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5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5950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oundRect">
            <a:avLst/>
          </a:prstGeom>
          <a:solidFill>
            <a:srgbClr val="35E0A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35E0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ROOM / DATA CENTER ENVIRONMENT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F5F8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Low-Cost IoT Environmental Monitoring System</a:t>
            </a:r>
            <a:endParaRPr lang="en-US" sz="3600" dirty="0"/>
          </a:p>
          <a:p>
            <a:pPr marL="0" indent="0" algn="ctr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F5F8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Server Rooms Using Raspberry Pi and DHT22 Sensors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56616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C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REPORT  ·  ACADEMIC YEAR 2026/27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0" y="4114800"/>
            <a:ext cx="6675120" cy="0"/>
          </a:xfrm>
          <a:prstGeom prst="line">
            <a:avLst/>
          </a:prstGeom>
          <a:noFill/>
          <a:ln w="12700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828800" y="429768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50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 WenBin   (P2321251)</a:t>
            </a:r>
            <a:endParaRPr lang="en-US" sz="1500" dirty="0"/>
          </a:p>
          <a:p>
            <a:pPr marL="0" indent="0" algn="ctr">
              <a:lnSpc>
                <a:spcPts val="2200"/>
              </a:lnSpc>
              <a:buNone/>
            </a:pPr>
            <a:r>
              <a:rPr lang="en-US" sz="150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BSc in Computing / Artificial Intelligence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828800" y="521208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Supervisor:  TBD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5E0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831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5F8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Outline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11183112" cy="658368"/>
          </a:xfrm>
          <a:prstGeom prst="roundRect">
            <a:avLst>
              <a:gd name="adj" fmla="val 8333"/>
            </a:avLst>
          </a:prstGeom>
          <a:solidFill>
            <a:srgbClr val="131C2E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685800" y="13258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5E0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737360" y="130759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5F8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Motivation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37360" y="1600200"/>
            <a:ext cx="9692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small server rooms need affordable environmental monitoring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039112"/>
            <a:ext cx="11183112" cy="658368"/>
          </a:xfrm>
          <a:prstGeom prst="roundRect">
            <a:avLst>
              <a:gd name="adj" fmla="val 8333"/>
            </a:avLst>
          </a:prstGeom>
          <a:solidFill>
            <a:srgbClr val="131C2E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85800" y="213055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5E0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737360" y="211226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5F8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 &amp; SMART Objectives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737360" y="2404872"/>
            <a:ext cx="9692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Measurable targets the project is built against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843784"/>
            <a:ext cx="11183112" cy="658368"/>
          </a:xfrm>
          <a:prstGeom prst="roundRect">
            <a:avLst>
              <a:gd name="adj" fmla="val 8333"/>
            </a:avLst>
          </a:prstGeom>
          <a:solidFill>
            <a:srgbClr val="131C2E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85800" y="2935224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5E0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737360" y="291693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5F8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737360" y="3209544"/>
            <a:ext cx="9692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Raspberry Pi + DHT22 → Flask/SQLite → dashboard &amp; alerts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648456"/>
            <a:ext cx="11183112" cy="658368"/>
          </a:xfrm>
          <a:prstGeom prst="roundRect">
            <a:avLst>
              <a:gd name="adj" fmla="val 8333"/>
            </a:avLst>
          </a:prstGeom>
          <a:solidFill>
            <a:srgbClr val="131C2E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685800" y="3739896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5E0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737360" y="372160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5F8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 Work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737360" y="4014216"/>
            <a:ext cx="9692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Sensing, ingestion, dashboard, Telegram alerts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4453128"/>
            <a:ext cx="11183112" cy="658368"/>
          </a:xfrm>
          <a:prstGeom prst="roundRect">
            <a:avLst>
              <a:gd name="adj" fmla="val 8333"/>
            </a:avLst>
          </a:prstGeom>
          <a:solidFill>
            <a:srgbClr val="131C2E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685800" y="454456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5E0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737360" y="45262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5F8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Big-Data Layer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737360" y="4818888"/>
            <a:ext cx="9692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Spark + Hive batch aggregation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5257800"/>
            <a:ext cx="11183112" cy="658368"/>
          </a:xfrm>
          <a:prstGeom prst="roundRect">
            <a:avLst>
              <a:gd name="adj" fmla="val 8333"/>
            </a:avLst>
          </a:prstGeom>
          <a:solidFill>
            <a:srgbClr val="131C2E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85800" y="53492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5E0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737360" y="533095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5F8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Progress &amp; Risk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737360" y="5623560"/>
            <a:ext cx="9692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status, risks and mitigations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6510528"/>
            <a:ext cx="111831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COMP4299/CSAI4299 Final Year Project  ·  Sun WenBin P2321251  ·  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5E0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831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5F8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Motivation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11183112" cy="2148840"/>
          </a:xfrm>
          <a:prstGeom prst="roundRect">
            <a:avLst>
              <a:gd name="adj" fmla="val 2553"/>
            </a:avLst>
          </a:prstGeom>
          <a:solidFill>
            <a:srgbClr val="131C2E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105430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F5F8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rooms concentrate heat-generating IT equipment in a confined space. Temperature or humidity excursions silently accelerate hardware ageing and are among the most common causes of failure in small facilities.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105430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5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BMS / DCIM platforms are accurate but expensive and closed — out of reach of universities, clinics and small businesses. Most open hardware projects stop at logging and plotting; few add alerting, an operator dashboard or durable, exportable history.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3611880"/>
            <a:ext cx="3544824" cy="1371600"/>
          </a:xfrm>
          <a:prstGeom prst="roundRect">
            <a:avLst>
              <a:gd name="adj" fmla="val 4000"/>
            </a:avLst>
          </a:prstGeom>
          <a:solidFill>
            <a:srgbClr val="1A2540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502920" y="3794760"/>
            <a:ext cx="35448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5E0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~70%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85800" y="4526280"/>
            <a:ext cx="31790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IT failures in small rooms traced to heat / humidity conditions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22064" y="3611880"/>
            <a:ext cx="3544824" cy="1371600"/>
          </a:xfrm>
          <a:prstGeom prst="roundRect">
            <a:avLst>
              <a:gd name="adj" fmla="val 4000"/>
            </a:avLst>
          </a:prstGeom>
          <a:solidFill>
            <a:srgbClr val="1A2540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4322064" y="3794760"/>
            <a:ext cx="35448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5E0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&lt;1s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504944" y="4526280"/>
            <a:ext cx="31790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response for any 30-day query window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41208" y="3611880"/>
            <a:ext cx="3544824" cy="1371600"/>
          </a:xfrm>
          <a:prstGeom prst="roundRect">
            <a:avLst>
              <a:gd name="adj" fmla="val 4000"/>
            </a:avLst>
          </a:prstGeom>
          <a:solidFill>
            <a:srgbClr val="1A2540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141208" y="3794760"/>
            <a:ext cx="35448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5E0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324088" y="4526280"/>
            <a:ext cx="31790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commercial platform targeted at the small-room budget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521208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C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response: an affordable, integrated system combining proven low-cost building blocks.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02920" y="6510528"/>
            <a:ext cx="111831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COMP4299/CSAI4299 Final Year Project  ·  Sun WenBin P2321251  ·  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5E0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 &amp; TARGETS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831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5F8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Objectives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5591556" cy="1508760"/>
          </a:xfrm>
          <a:prstGeom prst="roundRect">
            <a:avLst>
              <a:gd name="adj" fmla="val 3636"/>
            </a:avLst>
          </a:prstGeom>
          <a:solidFill>
            <a:srgbClr val="131C2E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704088" y="1444752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35E0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554480" y="1481328"/>
            <a:ext cx="43113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5F8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collection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1993392"/>
            <a:ext cx="51343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temp (±0.5 °C) &amp; humidity (±2 %RH) from DHT22 sensors at 1-min intervals, capture rate ≥ 99 %.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23076" y="1280160"/>
            <a:ext cx="5591556" cy="1508760"/>
          </a:xfrm>
          <a:prstGeom prst="roundRect">
            <a:avLst>
              <a:gd name="adj" fmla="val 3636"/>
            </a:avLst>
          </a:prstGeom>
          <a:solidFill>
            <a:srgbClr val="131C2E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524244" y="1444752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35E0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374636" y="1481328"/>
            <a:ext cx="43113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5F8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dashboard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51676" y="1993392"/>
            <a:ext cx="51343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gauges + 24 h trends with Chart.js; page refresh under 2 seconds.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971800"/>
            <a:ext cx="5591556" cy="1508760"/>
          </a:xfrm>
          <a:prstGeom prst="roundRect">
            <a:avLst>
              <a:gd name="adj" fmla="val 3636"/>
            </a:avLst>
          </a:prstGeom>
          <a:solidFill>
            <a:srgbClr val="131C2E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704088" y="3136392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35E0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554480" y="3172968"/>
            <a:ext cx="43113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5F8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Alerting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31520" y="3685032"/>
            <a:ext cx="51343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Configurable thresholds → Telegram within 10 s of a crossing, with recovery notices.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23076" y="2971800"/>
            <a:ext cx="5591556" cy="1508760"/>
          </a:xfrm>
          <a:prstGeom prst="roundRect">
            <a:avLst>
              <a:gd name="adj" fmla="val 3636"/>
            </a:avLst>
          </a:prstGeom>
          <a:solidFill>
            <a:srgbClr val="131C2E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6524244" y="3136392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35E0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374636" y="3172968"/>
            <a:ext cx="43113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5F8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Persistence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551676" y="3685032"/>
            <a:ext cx="51343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time-series store; any 30-day window queried in under 1 second.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4663440"/>
            <a:ext cx="5591556" cy="1508760"/>
          </a:xfrm>
          <a:prstGeom prst="roundRect">
            <a:avLst>
              <a:gd name="adj" fmla="val 3636"/>
            </a:avLst>
          </a:prstGeom>
          <a:solidFill>
            <a:srgbClr val="131C2E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704088" y="4828032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35E0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554480" y="4864608"/>
            <a:ext cx="43113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5F8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&amp; analytics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31520" y="5376672"/>
            <a:ext cx="51343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export of any range in &lt;5 s; Spark/Hive batch layer for history aggregation.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6510528"/>
            <a:ext cx="111831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COMP4299/CSAI4299 Final Year Project  ·  Sun WenBin P2321251  ·  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5E0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831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5F8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11183112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5" name="Image 0" descr="C:\Users\1\Desktop\FYP\iot_monitor\logic_desig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2960" y="1417320"/>
            <a:ext cx="10543032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257800"/>
            <a:ext cx="11183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Raspberry Pi + DHT22 sensing nodes → Flask REST API → SQLite (WAL) + CSV → Chart.js dashboard, Telegram alerts, CSV export, and a Spark/Hive batch-analysis path.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02920" y="6510528"/>
            <a:ext cx="111831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COMP4299/CSAI4299 Final Year Project  ·  Sun WenBin P2321251  ·  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5E0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831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5F8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Sensor to Dashboard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5591556" cy="1737360"/>
          </a:xfrm>
          <a:prstGeom prst="roundRect">
            <a:avLst>
              <a:gd name="adj" fmla="val 3158"/>
            </a:avLst>
          </a:prstGeom>
          <a:solidFill>
            <a:srgbClr val="131C2E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50429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35E0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Sensing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504291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F5F8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collector.py reads DHT22 every 60 s; invalid reads retried; offline buffer + CSV re-send guards the ≥99 % capture target.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23076" y="1325880"/>
            <a:ext cx="5591556" cy="1737360"/>
          </a:xfrm>
          <a:prstGeom prst="roundRect">
            <a:avLst>
              <a:gd name="adj" fmla="val 3158"/>
            </a:avLst>
          </a:prstGeom>
          <a:solidFill>
            <a:srgbClr val="131C2E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6597396" y="1554480"/>
            <a:ext cx="50429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35E0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Ingestion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97396" y="2057400"/>
            <a:ext cx="504291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F5F8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 POST /api/reading validates, writes SQLite (WAL, indexed), appends CSV, evaluates thresholds inline.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246120"/>
            <a:ext cx="5591556" cy="1737360"/>
          </a:xfrm>
          <a:prstGeom prst="roundRect">
            <a:avLst>
              <a:gd name="adj" fmla="val 3158"/>
            </a:avLst>
          </a:prstGeom>
          <a:solidFill>
            <a:srgbClr val="131C2E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777240" y="3474720"/>
            <a:ext cx="50429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35E0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Dashboard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77240" y="3977640"/>
            <a:ext cx="504291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F5F8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Chart.js gauges + 24 h trend with ASHRAE-informed threshold bands; 2 s polling; CSV export per range &amp; sensor.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23076" y="3246120"/>
            <a:ext cx="5591556" cy="1737360"/>
          </a:xfrm>
          <a:prstGeom prst="roundRect">
            <a:avLst>
              <a:gd name="adj" fmla="val 3158"/>
            </a:avLst>
          </a:prstGeom>
          <a:solidFill>
            <a:srgbClr val="131C2E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597396" y="3474720"/>
            <a:ext cx="50429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35E0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Alerting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597396" y="3977640"/>
            <a:ext cx="504291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F5F8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 via background thread; per-condition suppression (10 min) + recovery notification when back to normal.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6510528"/>
            <a:ext cx="111831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COMP4299/CSAI4299 Final Year Project  ·  Sun WenBin P2321251  ·  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5E0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831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5F8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Dashboard (running system)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6035040" cy="5029200"/>
          </a:xfrm>
          <a:prstGeom prst="roundRect">
            <a:avLst>
              <a:gd name="adj" fmla="val 1091"/>
            </a:avLst>
          </a:prstGeom>
          <a:solidFill>
            <a:srgbClr val="FFFFFF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5" name="Image 0" descr="C:\Users\1\Desktop\FYP\iot_monitor\pptconten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" y="1463040"/>
            <a:ext cx="5577840" cy="4572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766560" y="1280160"/>
            <a:ext cx="4892040" cy="914400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4"/>
          <p:cNvSpPr/>
          <p:nvPr/>
        </p:nvSpPr>
        <p:spPr>
          <a:xfrm>
            <a:off x="6967728" y="1536192"/>
            <a:ext cx="384048" cy="384048"/>
          </a:xfrm>
          <a:prstGeom prst="ellipse">
            <a:avLst/>
          </a:prstGeom>
          <a:solidFill>
            <a:srgbClr val="35E0A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7543800" y="1371600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5F8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view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543800" y="171907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temp &amp; humidity per sensor with status strip.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766560" y="2331720"/>
            <a:ext cx="4892040" cy="914400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8"/>
          <p:cNvSpPr/>
          <p:nvPr/>
        </p:nvSpPr>
        <p:spPr>
          <a:xfrm>
            <a:off x="6967728" y="2587752"/>
            <a:ext cx="384048" cy="384048"/>
          </a:xfrm>
          <a:prstGeom prst="ellipse">
            <a:avLst/>
          </a:prstGeom>
          <a:solidFill>
            <a:srgbClr val="7FA8D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7543800" y="2423160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5F8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24-hour trends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7543800" y="277063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Overlay of both sensors vs. threshold bands.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766560" y="3383280"/>
            <a:ext cx="4892040" cy="914400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2"/>
          <p:cNvSpPr/>
          <p:nvPr/>
        </p:nvSpPr>
        <p:spPr>
          <a:xfrm>
            <a:off x="6967728" y="3639312"/>
            <a:ext cx="384048" cy="384048"/>
          </a:xfrm>
          <a:prstGeom prst="ellipse">
            <a:avLst/>
          </a:prstGeom>
          <a:solidFill>
            <a:srgbClr val="35E0A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7543800" y="3474720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5F8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indicators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7543800" y="382219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Connection, sensor count, nominal / alarm state.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766560" y="4434840"/>
            <a:ext cx="4892040" cy="914400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6"/>
          <p:cNvSpPr/>
          <p:nvPr/>
        </p:nvSpPr>
        <p:spPr>
          <a:xfrm>
            <a:off x="6967728" y="4690872"/>
            <a:ext cx="384048" cy="384048"/>
          </a:xfrm>
          <a:prstGeom prst="ellipse">
            <a:avLst/>
          </a:prstGeom>
          <a:solidFill>
            <a:srgbClr val="7FA8D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7"/>
          <p:cNvSpPr/>
          <p:nvPr/>
        </p:nvSpPr>
        <p:spPr>
          <a:xfrm>
            <a:off x="7543800" y="4526280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5F8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 control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7543800" y="487375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Live-editable min/max values on the same page.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02920" y="6510528"/>
            <a:ext cx="111831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COMP4299/CSAI4299 Final Year Project  ·  Sun WenBin P2321251  ·  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5E0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831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5F8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 Alerting via Telegram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2795778" cy="1920240"/>
          </a:xfrm>
          <a:prstGeom prst="roundRect">
            <a:avLst>
              <a:gd name="adj" fmla="val 2857"/>
            </a:avLst>
          </a:prstGeom>
          <a:solidFill>
            <a:srgbClr val="131C2E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1508760" y="1655064"/>
            <a:ext cx="685800" cy="685800"/>
          </a:xfrm>
          <a:prstGeom prst="ellipse">
            <a:avLst/>
          </a:prstGeom>
          <a:solidFill>
            <a:srgbClr val="7FA8D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508760" y="1738746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2514600"/>
            <a:ext cx="24300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8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880360"/>
            <a:ext cx="233857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value arrives at ingestion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554730" y="1371600"/>
            <a:ext cx="2795778" cy="1920240"/>
          </a:xfrm>
          <a:prstGeom prst="roundRect">
            <a:avLst>
              <a:gd name="adj" fmla="val 2857"/>
            </a:avLst>
          </a:prstGeom>
          <a:solidFill>
            <a:srgbClr val="131C2E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4609719" y="1666702"/>
            <a:ext cx="685800" cy="685800"/>
          </a:xfrm>
          <a:prstGeom prst="ellipse">
            <a:avLst/>
          </a:prstGeom>
          <a:solidFill>
            <a:srgbClr val="7FA8D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4609719" y="1720319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737610" y="2514600"/>
            <a:ext cx="24300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8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783330" y="2880360"/>
            <a:ext cx="233857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temp/humidity against thresholds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606540" y="1371600"/>
            <a:ext cx="2795778" cy="1920240"/>
          </a:xfrm>
          <a:prstGeom prst="roundRect">
            <a:avLst>
              <a:gd name="adj" fmla="val 2857"/>
            </a:avLst>
          </a:prstGeom>
          <a:solidFill>
            <a:srgbClr val="131C2E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7661529" y="1668780"/>
            <a:ext cx="685800" cy="685800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7661529" y="171450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789420" y="2514600"/>
            <a:ext cx="24300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8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35140" y="2880360"/>
            <a:ext cx="233857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 within 10 s (background send, retries)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658350" y="1371600"/>
            <a:ext cx="2338578" cy="1920240"/>
          </a:xfrm>
          <a:prstGeom prst="roundRect">
            <a:avLst>
              <a:gd name="adj" fmla="val 2857"/>
            </a:avLst>
          </a:prstGeom>
          <a:solidFill>
            <a:srgbClr val="131C2E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10615127" y="1666702"/>
            <a:ext cx="685800" cy="685800"/>
          </a:xfrm>
          <a:prstGeom prst="ellipse">
            <a:avLst/>
          </a:prstGeom>
          <a:solidFill>
            <a:srgbClr val="35E0A1"/>
          </a:solidFill>
          <a:ln/>
        </p:spPr>
        <p:txBody>
          <a:bodyPr/>
          <a:lstStyle/>
          <a:p>
            <a:endParaRPr lang="zh-CN" altLang="en-US" dirty="0"/>
          </a:p>
        </p:txBody>
      </p:sp>
      <p:sp>
        <p:nvSpPr>
          <p:cNvPr id="21" name="Text 19"/>
          <p:cNvSpPr/>
          <p:nvPr/>
        </p:nvSpPr>
        <p:spPr>
          <a:xfrm>
            <a:off x="10615127" y="1735282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841230" y="2514600"/>
            <a:ext cx="24300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8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886950" y="2880360"/>
            <a:ext cx="233857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message when back inside limits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" y="3657600"/>
            <a:ext cx="11183112" cy="1234440"/>
          </a:xfrm>
          <a:prstGeom prst="roundRect">
            <a:avLst>
              <a:gd name="adj" fmla="val 4444"/>
            </a:avLst>
          </a:prstGeom>
          <a:solidFill>
            <a:srgbClr val="1A2540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822960" y="3794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C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behaviour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2960" y="4160520"/>
            <a:ext cx="10543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F5F8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threshold excursion fired a Telegram message on a phone inside the target latency, and a second message arrived automatically when conditions returned to normal — no message flooding thanks to per-condition suppression.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02920" y="6510528"/>
            <a:ext cx="111831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COMP4299/CSAI4299 Final Year Project  ·  Sun WenBin P2321251  ·  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5E0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BIG-DATA LAYER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831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5F8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Spark + Hive Batch Analysis (WSL2, single-node cluster)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5591556" cy="1371600"/>
          </a:xfrm>
          <a:prstGeom prst="roundRect">
            <a:avLst>
              <a:gd name="adj" fmla="val 4000"/>
            </a:avLst>
          </a:prstGeom>
          <a:solidFill>
            <a:srgbClr val="131C2E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777240" y="1508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5E0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892808"/>
            <a:ext cx="50429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F5F8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Hadoop 3.4.1 (HDFS) + Hive 4.2.1 metastore + Spark 4.0.4 (YARN), Java 21, on Ubuntu in WSL2.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23076" y="1325880"/>
            <a:ext cx="5591556" cy="1371600"/>
          </a:xfrm>
          <a:prstGeom prst="roundRect">
            <a:avLst>
              <a:gd name="adj" fmla="val 4000"/>
            </a:avLst>
          </a:prstGeom>
          <a:solidFill>
            <a:srgbClr val="131C2E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6597396" y="1508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5E0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97396" y="1892808"/>
            <a:ext cx="50429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F5F8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readings.csv → hourly aggregates (avg/max/min temp &amp; humidity per sensor) via PySpark → HDFS.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880360"/>
            <a:ext cx="5591556" cy="1371600"/>
          </a:xfrm>
          <a:prstGeom prst="roundRect">
            <a:avLst>
              <a:gd name="adj" fmla="val 4000"/>
            </a:avLst>
          </a:prstGeom>
          <a:solidFill>
            <a:srgbClr val="131C2E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777240" y="3063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5E0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3447288"/>
            <a:ext cx="50429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F5F8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Hive external table over the aggregated output — SQL access to long-run history.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23076" y="2880360"/>
            <a:ext cx="5591556" cy="1371600"/>
          </a:xfrm>
          <a:prstGeom prst="roundRect">
            <a:avLst>
              <a:gd name="adj" fmla="val 4000"/>
            </a:avLst>
          </a:prstGeom>
          <a:solidFill>
            <a:srgbClr val="131C2E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597396" y="3063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5E0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97396" y="3447288"/>
            <a:ext cx="50429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F5F8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Complements the real-time Flask/SQLite path for semester-length analytics &amp; reporting.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6510528"/>
            <a:ext cx="111831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COMP4299/CSAI4299 Final Year Project  ·  Sun WenBin P2321251  ·  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5E0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TIME MANAGEMENT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831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5F8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Precedence Network (PDM) — 28 weeks, critical path in red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11183112" cy="356616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5" name="Image 0" descr="C:\Users\1\Desktop\FYP\iot_monitor\pdm_diagram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77240" y="1371600"/>
            <a:ext cx="10634472" cy="3291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489204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 → A3 → A4 → A5 → A7 → A9 → A11 → A12 → A13 → A14 is the critical path (28 weeks); each node shows ES / EF / LS / LF and total float.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02920" y="6510528"/>
            <a:ext cx="111831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COMP4299/CSAI4299 Final Year Project  ·  Sun WenBin P2321251  ·  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5E0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TIME MANAGEMENT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831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5F8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— Gantt across two semesters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11183112" cy="384048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5" name="Image 0" descr="C:\Users\1\Desktop\FYP\iot_monitor\gant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77240" y="1417320"/>
            <a:ext cx="10634472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21208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Semester 1 (W1-15) covers sensing, backend, dashboard and the progress report; Semester 2 (S2 W1-13) covers integration, validation and final delivery.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02920" y="6510528"/>
            <a:ext cx="111831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COMP4299/CSAI4299 Final Year Project  ·  Sun WenBin P2321251  ·  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5E0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MANAGEMENT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831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5F8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Risks &amp; Mitigations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5591556" cy="1188720"/>
          </a:xfrm>
          <a:prstGeom prst="roundRect">
            <a:avLst>
              <a:gd name="adj" fmla="val 4615"/>
            </a:avLst>
          </a:prstGeom>
          <a:solidFill>
            <a:srgbClr val="131C2E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777240" y="1490472"/>
            <a:ext cx="50429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C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link (Med/High)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892808"/>
            <a:ext cx="50429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F5F8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Buffer on the Pi + retransmit; local CSV fallback.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323076" y="1325880"/>
            <a:ext cx="5591556" cy="1188720"/>
          </a:xfrm>
          <a:prstGeom prst="roundRect">
            <a:avLst>
              <a:gd name="adj" fmla="val 4615"/>
            </a:avLst>
          </a:prstGeom>
          <a:solidFill>
            <a:srgbClr val="131C2E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6597396" y="1490472"/>
            <a:ext cx="50429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C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downtime / SQLite (Low/High)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97396" y="1892808"/>
            <a:ext cx="50429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F5F8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 mode, scheduled backups, CSV as secondary record.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697480"/>
            <a:ext cx="5591556" cy="1188720"/>
          </a:xfrm>
          <a:prstGeom prst="roundRect">
            <a:avLst>
              <a:gd name="adj" fmla="val 4615"/>
            </a:avLst>
          </a:prstGeom>
          <a:solidFill>
            <a:srgbClr val="131C2E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777240" y="2862072"/>
            <a:ext cx="50429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C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accuracy (Med/Med)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3264408"/>
            <a:ext cx="50429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F5F8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&amp; retry reads, reject out-of-range, calibrate.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23076" y="2697480"/>
            <a:ext cx="5591556" cy="1188720"/>
          </a:xfrm>
          <a:prstGeom prst="roundRect">
            <a:avLst>
              <a:gd name="adj" fmla="val 4615"/>
            </a:avLst>
          </a:prstGeom>
          <a:solidFill>
            <a:srgbClr val="131C2E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597396" y="2862072"/>
            <a:ext cx="50429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C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delay (Low/Med)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97396" y="3264408"/>
            <a:ext cx="50429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F5F8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at ingestion; retry with backoff; SMTP backup.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4069080"/>
            <a:ext cx="5591556" cy="1188720"/>
          </a:xfrm>
          <a:prstGeom prst="roundRect">
            <a:avLst>
              <a:gd name="adj" fmla="val 4615"/>
            </a:avLst>
          </a:prstGeom>
          <a:solidFill>
            <a:srgbClr val="131C2E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777240" y="4233672"/>
            <a:ext cx="50429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C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/ export targets (Low/Med)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4636008"/>
            <a:ext cx="50429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F5F8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ts, pre-aggregate, paginate large exports.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6510528"/>
            <a:ext cx="111831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COMP4299/CSAI4299 Final Year Project  ·  Sun WenBin P2321251  ·  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2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822960"/>
            <a:ext cx="11183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Status &amp; Next Steps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737360" y="1828800"/>
            <a:ext cx="8686800" cy="1051560"/>
          </a:xfrm>
          <a:prstGeom prst="roundRect">
            <a:avLst>
              <a:gd name="adj" fmla="val 5217"/>
            </a:avLst>
          </a:prstGeom>
          <a:solidFill>
            <a:srgbClr val="123F37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2057400" y="21488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5E0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434840" y="1938528"/>
            <a:ext cx="5760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E7F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Sensing, Flask ingestion, SQLite persistence, dashboard, CSV export, Telegram alerts, Spark/Hive layer.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737360" y="3063240"/>
            <a:ext cx="8686800" cy="1051560"/>
          </a:xfrm>
          <a:prstGeom prst="roundRect">
            <a:avLst>
              <a:gd name="adj" fmla="val 5217"/>
            </a:avLst>
          </a:prstGeom>
          <a:solidFill>
            <a:srgbClr val="123F37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2057400" y="33832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C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434840" y="3172968"/>
            <a:ext cx="5760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E7F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7-day continuous validation of capture-rate and latency targets; calibration against a reference sensor.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737360" y="4297680"/>
            <a:ext cx="8686800" cy="1051560"/>
          </a:xfrm>
          <a:prstGeom prst="roundRect">
            <a:avLst>
              <a:gd name="adj" fmla="val 5217"/>
            </a:avLst>
          </a:prstGeom>
          <a:solidFill>
            <a:srgbClr val="123F37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2057400" y="46177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FA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34840" y="4407408"/>
            <a:ext cx="5760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E7F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 SMART verification, final-report writing, demo video and poster for the final presentation.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71600" y="585216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— Questions welcome.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1125</Words>
  <Application>Microsoft Office PowerPoint</Application>
  <PresentationFormat>Widescreen</PresentationFormat>
  <Paragraphs>154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FYP Progress Report - IoT Environmental Monitoring System</dc:title>
  <dc:subject>PptxGenJS Presentation</dc:subject>
  <dc:creator>Sun WenBin</dc:creator>
  <cp:lastModifiedBy>WEN BIN SUN</cp:lastModifiedBy>
  <cp:revision>3</cp:revision>
  <dcterms:created xsi:type="dcterms:W3CDTF">2026-09-09T08:01:21Z</dcterms:created>
  <dcterms:modified xsi:type="dcterms:W3CDTF">2026-09-12T07:10:27Z</dcterms:modified>
</cp:coreProperties>
</file>